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109728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3A5F"/>
                </a:solidFill>
                <a:latin typeface="Calibri"/>
              </a:rPr>
              <a:t>Machine Learning</a:t>
            </a:r>
          </a:p>
          <a:p>
            <a:r>
              <a:rPr sz="2200">
                <a:solidFill>
                  <a:srgbClr val="888888"/>
                </a:solidFill>
                <a:latin typeface="Calibri"/>
              </a:rPr>
              <a:t>Cours 9 — Quand la machine apprend à partir de données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1. L'idée : ne plus écrire la règle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Le renversement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Avant : on écrit les règles à la main (des if/else sans fin)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ML : on montre des EXEMPLES, la machine trouve la règle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Bon réflexe : « pourrais-je écrire toutes les règles à la main ? »</a:t>
            </a:r>
          </a:p>
          <a:p>
            <a:pPr lvl="1">
              <a:spcAft>
                <a:spcPts val="800"/>
              </a:spcAft>
            </a:pPr>
            <a:r>
              <a:rPr sz="2200" b="0">
                <a:solidFill>
                  <a:srgbClr val="888888"/>
                </a:solidFill>
                <a:latin typeface="Calibri"/>
              </a:rPr>
              <a:t>– Si non (trop complexe, trop changeant) → machine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2. Le workflow 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Toujours les mêmes étapes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Données brutes : rassembler des exemples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Features &amp; labels : les entrées et la bonne réponse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Train / Test : cacher une partie pour évaluer honnêtement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Entraînement (.fit) : le modèle apprend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Évaluation : est-il bon sur du JAMAIS VU ?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Prédiction (.predict) : l'utiliser sur du nouveau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3. Deux grandes questions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Classification vs Régression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Classification : prédire une CATÉGORIE</a:t>
            </a:r>
          </a:p>
          <a:p>
            <a:pPr lvl="1">
              <a:spcAft>
                <a:spcPts val="800"/>
              </a:spcAft>
            </a:pPr>
            <a:r>
              <a:rPr sz="2200" b="0">
                <a:solidFill>
                  <a:srgbClr val="888888"/>
                </a:solidFill>
                <a:latin typeface="Calibri"/>
              </a:rPr>
              <a:t>– spam / pas spam, chat / chien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Régression : prédire un NOMBRE</a:t>
            </a:r>
          </a:p>
          <a:p>
            <a:pPr lvl="1">
              <a:spcAft>
                <a:spcPts val="800"/>
              </a:spcAft>
            </a:pPr>
            <a:r>
              <a:rPr sz="2200" b="0">
                <a:solidFill>
                  <a:srgbClr val="888888"/>
                </a:solidFill>
                <a:latin typeface="Calibri"/>
              </a:rPr>
              <a:t>– prix d'une maison, température de demain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Même workflow ; seuls le label et les métriques changent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4. Quelques modèles, par l'intuition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Trois façons d'apprendre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k-NN : « dis-moi qui sont tes voisins… » (classe majoritaire)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Arbre de décision : une suite de questions oui/non (Akinator)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Régression linéaire : la droite qui colle le mieux aux points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Dans scikit-learn, ils s'utilisent TOUS de la même façon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5. Le piège n°1 : le sur-apprentissage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Apprendre vs apprendre par cœur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Sous-apprentissage : modèle trop simple, rate même le train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Sur-apprentissage : apprend par cœur, se plante sur le nouveau</a:t>
            </a:r>
          </a:p>
          <a:p>
            <a:pPr lvl="1">
              <a:spcAft>
                <a:spcPts val="800"/>
              </a:spcAft>
            </a:pPr>
            <a:r>
              <a:rPr sz="2200" b="0">
                <a:solidFill>
                  <a:srgbClr val="888888"/>
                </a:solidFill>
                <a:latin typeface="Calibri"/>
              </a:rPr>
              <a:t>– = l'élève qui récite mais ne sait rien appliquer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La parade : séparer TRAIN et TEST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Bon sur train + nul sur test = sur-apprentissage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6. Mesurer la qualité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Les métriques clés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Accuracy : % de bonnes réponses (trompeur si classes déséquilibrées)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Précision : quand je dis X, ai-je raison ?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Rappel : tous les vrais X, les ai-je retrouvés ?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Matrice de confusion : qui est confondu avec qui (la + utile)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Régression : MAE / RMSE (erreur moyenne)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7. scikit-learn en 4 lignes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L'API unifiée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modele = KNeighborsClassifier()   → choisir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modele.fit(X_train, y_train)      → entraîner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modele.predict(X_test)            → prédire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modele.score(X_test, y_test)      → évaluer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Changer de modèle = changer 1 ligne, le reste ne bouge pas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109728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3A5F"/>
                </a:solidFill>
                <a:latin typeface="Calibri"/>
              </a:rPr>
              <a:t>À toi de jouer 🚀</a:t>
            </a:r>
          </a:p>
          <a:p>
            <a:r>
              <a:rPr sz="2200">
                <a:solidFill>
                  <a:srgbClr val="888888"/>
                </a:solidFill>
                <a:latin typeface="Calibri"/>
              </a:rPr>
              <a:t>Lance les démos 1 → 4, puis exos.md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